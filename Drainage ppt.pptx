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68" r:id="rId3"/>
    <p:sldId id="256" r:id="rId4"/>
    <p:sldId id="260" r:id="rId5"/>
    <p:sldId id="261" r:id="rId6"/>
    <p:sldId id="262" r:id="rId7"/>
    <p:sldId id="263" r:id="rId8"/>
    <p:sldId id="265" r:id="rId9"/>
    <p:sldId id="269" r:id="rId10"/>
    <p:sldId id="270" r:id="rId11"/>
  </p:sldIdLst>
  <p:sldSz cx="12192000" cy="6858000"/>
  <p:notesSz cx="6858000" cy="12192000"/>
  <p:embeddedFontLst>
    <p:embeddedFont>
      <p:font typeface="Algerian" panose="04020705040A02060702" pitchFamily="82" charset="0"/>
      <p:regular r:id="rId13"/>
    </p:embeddedFont>
    <p:embeddedFont>
      <p:font typeface="Anton" pitchFamily="2" charset="0"/>
      <p:regular r:id="rId14"/>
    </p:embeddedFont>
    <p:embeddedFont>
      <p:font typeface="Bell MT" panose="02020503060305020303" pitchFamily="18" charset="0"/>
      <p:regular r:id="rId15"/>
      <p:bold r:id="rId16"/>
      <p:italic r:id="rId17"/>
    </p:embeddedFont>
    <p:embeddedFont>
      <p:font typeface="Source Sans 3" panose="020B0604020202020204" charset="0"/>
      <p:regular r:id="rId18"/>
    </p:embeddedFont>
    <p:embeddedFont>
      <p:font typeface="Source Serif 4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D4F7"/>
    <a:srgbClr val="FCFBFE"/>
    <a:srgbClr val="EAD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2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764EB3-D98F-4284-A292-CD636B050899}" type="doc">
      <dgm:prSet loTypeId="urn:microsoft.com/office/officeart/2005/8/layout/chevron2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AE428A8F-6906-4665-872E-81E97841E5C6}">
      <dgm:prSet phldrT="[Text]"/>
      <dgm:spPr/>
      <dgm:t>
        <a:bodyPr/>
        <a:lstStyle/>
        <a:p>
          <a:pPr>
            <a:buNone/>
          </a:pPr>
          <a:r>
            <a:rPr lang="en-IN" b="1" dirty="0"/>
            <a:t>BLOCKAGE</a:t>
          </a:r>
          <a:br>
            <a:rPr lang="en-IN" dirty="0"/>
          </a:br>
          <a:r>
            <a:rPr lang="en-IN" dirty="0"/>
            <a:t> </a:t>
          </a:r>
        </a:p>
      </dgm:t>
    </dgm:pt>
    <dgm:pt modelId="{0E6C696E-4F95-4310-830D-5CD615FB4B46}" type="parTrans" cxnId="{9F748252-809B-4C96-96DC-E1D170C506D1}">
      <dgm:prSet/>
      <dgm:spPr/>
      <dgm:t>
        <a:bodyPr/>
        <a:lstStyle/>
        <a:p>
          <a:endParaRPr lang="en-IN"/>
        </a:p>
      </dgm:t>
    </dgm:pt>
    <dgm:pt modelId="{8418A4EE-46A5-4999-BB93-783D91D27E02}" type="sibTrans" cxnId="{9F748252-809B-4C96-96DC-E1D170C506D1}">
      <dgm:prSet/>
      <dgm:spPr/>
      <dgm:t>
        <a:bodyPr/>
        <a:lstStyle/>
        <a:p>
          <a:endParaRPr lang="en-IN"/>
        </a:p>
      </dgm:t>
    </dgm:pt>
    <dgm:pt modelId="{E9BC3F2B-CE2E-4752-895A-18D97732C537}">
      <dgm:prSet phldrT="[Text]"/>
      <dgm:spPr/>
      <dgm:t>
        <a:bodyPr/>
        <a:lstStyle/>
        <a:p>
          <a:pPr>
            <a:buNone/>
          </a:pPr>
          <a:r>
            <a:rPr lang="en-IN" dirty="0"/>
            <a:t>Waste and debris block the drainage flow.</a:t>
          </a:r>
        </a:p>
      </dgm:t>
    </dgm:pt>
    <dgm:pt modelId="{BF8451C2-B92A-4DDD-851C-32A2CF9311DF}" type="parTrans" cxnId="{CB6F7862-3252-423C-A6EE-5FD90E9EC053}">
      <dgm:prSet/>
      <dgm:spPr/>
      <dgm:t>
        <a:bodyPr/>
        <a:lstStyle/>
        <a:p>
          <a:endParaRPr lang="en-IN"/>
        </a:p>
      </dgm:t>
    </dgm:pt>
    <dgm:pt modelId="{F42B450D-F0AA-4517-8EF1-64896DF62E3F}" type="sibTrans" cxnId="{CB6F7862-3252-423C-A6EE-5FD90E9EC053}">
      <dgm:prSet/>
      <dgm:spPr/>
      <dgm:t>
        <a:bodyPr/>
        <a:lstStyle/>
        <a:p>
          <a:endParaRPr lang="en-IN"/>
        </a:p>
      </dgm:t>
    </dgm:pt>
    <dgm:pt modelId="{631D8015-58A4-4251-8833-CAD1FBB1193D}">
      <dgm:prSet phldrT="[Text]"/>
      <dgm:spPr/>
      <dgm:t>
        <a:bodyPr/>
        <a:lstStyle/>
        <a:p>
          <a:pPr>
            <a:buNone/>
          </a:pPr>
          <a:r>
            <a:rPr lang="en-IN" dirty="0"/>
            <a:t>WATER RISES </a:t>
          </a:r>
        </a:p>
      </dgm:t>
    </dgm:pt>
    <dgm:pt modelId="{57D39DA7-BAD1-4F4F-9D15-544D712459AD}" type="parTrans" cxnId="{E4D4C8DE-9529-4A95-B4E6-E0675E6BE903}">
      <dgm:prSet/>
      <dgm:spPr/>
      <dgm:t>
        <a:bodyPr/>
        <a:lstStyle/>
        <a:p>
          <a:endParaRPr lang="en-IN"/>
        </a:p>
      </dgm:t>
    </dgm:pt>
    <dgm:pt modelId="{3672FF54-BE7E-4803-B586-C826E3F4EA5E}" type="sibTrans" cxnId="{E4D4C8DE-9529-4A95-B4E6-E0675E6BE903}">
      <dgm:prSet/>
      <dgm:spPr/>
      <dgm:t>
        <a:bodyPr/>
        <a:lstStyle/>
        <a:p>
          <a:endParaRPr lang="en-IN"/>
        </a:p>
      </dgm:t>
    </dgm:pt>
    <dgm:pt modelId="{E8CAAE14-F460-4131-BB9C-0FB2B08899EE}">
      <dgm:prSet phldrT="[Text]"/>
      <dgm:spPr/>
      <dgm:t>
        <a:bodyPr/>
        <a:lstStyle/>
        <a:p>
          <a:pPr>
            <a:buNone/>
          </a:pPr>
          <a:r>
            <a:rPr lang="en-IN" dirty="0"/>
            <a:t>Water level starts rising rapidly inside the drain.</a:t>
          </a:r>
        </a:p>
      </dgm:t>
    </dgm:pt>
    <dgm:pt modelId="{6E74ECDB-5D4F-4553-8C79-50652A487FCB}" type="parTrans" cxnId="{6E38764D-A9A8-48AC-B76B-34BBC88789FA}">
      <dgm:prSet/>
      <dgm:spPr/>
      <dgm:t>
        <a:bodyPr/>
        <a:lstStyle/>
        <a:p>
          <a:endParaRPr lang="en-IN"/>
        </a:p>
      </dgm:t>
    </dgm:pt>
    <dgm:pt modelId="{0001D971-4E84-46E4-867D-D72E4D8F6F75}" type="sibTrans" cxnId="{6E38764D-A9A8-48AC-B76B-34BBC88789FA}">
      <dgm:prSet/>
      <dgm:spPr/>
      <dgm:t>
        <a:bodyPr/>
        <a:lstStyle/>
        <a:p>
          <a:endParaRPr lang="en-IN"/>
        </a:p>
      </dgm:t>
    </dgm:pt>
    <dgm:pt modelId="{79DECA6E-53DE-4E93-85DE-C083E173F22D}">
      <dgm:prSet phldrT="[Text]"/>
      <dgm:spPr/>
      <dgm:t>
        <a:bodyPr/>
        <a:lstStyle/>
        <a:p>
          <a:pPr>
            <a:buNone/>
          </a:pPr>
          <a:r>
            <a:rPr lang="en-IN" dirty="0"/>
            <a:t>URBAN FLOODING</a:t>
          </a:r>
        </a:p>
      </dgm:t>
    </dgm:pt>
    <dgm:pt modelId="{E212E4EB-E0E9-43BD-ACA6-F77719D459C0}" type="parTrans" cxnId="{AFD9827D-A92B-4C1F-9650-8E9506D03A99}">
      <dgm:prSet/>
      <dgm:spPr/>
      <dgm:t>
        <a:bodyPr/>
        <a:lstStyle/>
        <a:p>
          <a:endParaRPr lang="en-IN"/>
        </a:p>
      </dgm:t>
    </dgm:pt>
    <dgm:pt modelId="{AF4B298C-5474-4B25-BE9D-062341DE3D07}" type="sibTrans" cxnId="{AFD9827D-A92B-4C1F-9650-8E9506D03A99}">
      <dgm:prSet/>
      <dgm:spPr/>
      <dgm:t>
        <a:bodyPr/>
        <a:lstStyle/>
        <a:p>
          <a:endParaRPr lang="en-IN"/>
        </a:p>
      </dgm:t>
    </dgm:pt>
    <dgm:pt modelId="{84B197E1-81FF-4A36-B0AD-DB94881E71E4}">
      <dgm:prSet phldrT="[Text]"/>
      <dgm:spPr/>
      <dgm:t>
        <a:bodyPr/>
        <a:lstStyle/>
        <a:p>
          <a:pPr>
            <a:buNone/>
          </a:pPr>
          <a:r>
            <a:rPr lang="en-IN" dirty="0"/>
            <a:t>Drain overflow can lead to road flooding and public inconvenience.</a:t>
          </a:r>
        </a:p>
      </dgm:t>
    </dgm:pt>
    <dgm:pt modelId="{552A6FB3-6DF5-4F03-B6CC-1A00B8FA12E9}" type="parTrans" cxnId="{87AFE649-825C-44E1-B634-C65350BEC9E5}">
      <dgm:prSet/>
      <dgm:spPr/>
      <dgm:t>
        <a:bodyPr/>
        <a:lstStyle/>
        <a:p>
          <a:endParaRPr lang="en-IN"/>
        </a:p>
      </dgm:t>
    </dgm:pt>
    <dgm:pt modelId="{429A2860-5A67-435D-A1CA-4BE9CFA44F2C}" type="sibTrans" cxnId="{87AFE649-825C-44E1-B634-C65350BEC9E5}">
      <dgm:prSet/>
      <dgm:spPr/>
      <dgm:t>
        <a:bodyPr/>
        <a:lstStyle/>
        <a:p>
          <a:endParaRPr lang="en-IN"/>
        </a:p>
      </dgm:t>
    </dgm:pt>
    <dgm:pt modelId="{A9FD6FED-41A7-4583-9172-393216C84C0E}">
      <dgm:prSet/>
      <dgm:spPr/>
      <dgm:t>
        <a:bodyPr/>
        <a:lstStyle/>
        <a:p>
          <a:pPr>
            <a:buNone/>
          </a:pPr>
          <a:r>
            <a:rPr lang="en-IN" dirty="0"/>
            <a:t>NO EARLY ALERT</a:t>
          </a:r>
        </a:p>
      </dgm:t>
    </dgm:pt>
    <dgm:pt modelId="{288A1890-2C65-4CD9-A083-3E2D6D51B34F}" type="parTrans" cxnId="{4CD84686-3299-4145-9D3F-5DE8997D692C}">
      <dgm:prSet/>
      <dgm:spPr/>
      <dgm:t>
        <a:bodyPr/>
        <a:lstStyle/>
        <a:p>
          <a:endParaRPr lang="en-IN"/>
        </a:p>
      </dgm:t>
    </dgm:pt>
    <dgm:pt modelId="{C3292177-C374-4F55-8B73-CA63B87E1B5D}" type="sibTrans" cxnId="{4CD84686-3299-4145-9D3F-5DE8997D692C}">
      <dgm:prSet/>
      <dgm:spPr/>
      <dgm:t>
        <a:bodyPr/>
        <a:lstStyle/>
        <a:p>
          <a:endParaRPr lang="en-IN"/>
        </a:p>
      </dgm:t>
    </dgm:pt>
    <dgm:pt modelId="{D3B33AB3-2F6D-408E-999A-B3CDE6D666CA}">
      <dgm:prSet/>
      <dgm:spPr/>
      <dgm:t>
        <a:bodyPr/>
        <a:lstStyle/>
        <a:p>
          <a:pPr>
            <a:buNone/>
          </a:pPr>
          <a:r>
            <a:rPr lang="en-IN" dirty="0"/>
            <a:t>The blockage may not be detected in time.</a:t>
          </a:r>
        </a:p>
      </dgm:t>
    </dgm:pt>
    <dgm:pt modelId="{CD85FDE0-6178-4CB3-8E48-AEDB91D0FF31}" type="parTrans" cxnId="{30117B90-EE98-46C5-8398-D88AC29302FD}">
      <dgm:prSet/>
      <dgm:spPr/>
      <dgm:t>
        <a:bodyPr/>
        <a:lstStyle/>
        <a:p>
          <a:endParaRPr lang="en-IN"/>
        </a:p>
      </dgm:t>
    </dgm:pt>
    <dgm:pt modelId="{A31309FE-7509-4331-B557-E0D9958B4098}" type="sibTrans" cxnId="{30117B90-EE98-46C5-8398-D88AC29302FD}">
      <dgm:prSet/>
      <dgm:spPr/>
      <dgm:t>
        <a:bodyPr/>
        <a:lstStyle/>
        <a:p>
          <a:endParaRPr lang="en-IN"/>
        </a:p>
      </dgm:t>
    </dgm:pt>
    <dgm:pt modelId="{556C8DCF-B056-4525-8761-244A3FBB5274}" type="pres">
      <dgm:prSet presAssocID="{F1764EB3-D98F-4284-A292-CD636B050899}" presName="linearFlow" presStyleCnt="0">
        <dgm:presLayoutVars>
          <dgm:dir/>
          <dgm:animLvl val="lvl"/>
          <dgm:resizeHandles val="exact"/>
        </dgm:presLayoutVars>
      </dgm:prSet>
      <dgm:spPr/>
    </dgm:pt>
    <dgm:pt modelId="{7326156D-1CF3-4D87-98CE-63C347495F30}" type="pres">
      <dgm:prSet presAssocID="{AE428A8F-6906-4665-872E-81E97841E5C6}" presName="composite" presStyleCnt="0"/>
      <dgm:spPr/>
    </dgm:pt>
    <dgm:pt modelId="{2EB898BE-527B-4CE7-BA24-D2A5A47B2027}" type="pres">
      <dgm:prSet presAssocID="{AE428A8F-6906-4665-872E-81E97841E5C6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4CCD9697-5364-4B98-B826-64FB5B0B026A}" type="pres">
      <dgm:prSet presAssocID="{AE428A8F-6906-4665-872E-81E97841E5C6}" presName="descendantText" presStyleLbl="alignAcc1" presStyleIdx="0" presStyleCnt="4">
        <dgm:presLayoutVars>
          <dgm:bulletEnabled val="1"/>
        </dgm:presLayoutVars>
      </dgm:prSet>
      <dgm:spPr/>
    </dgm:pt>
    <dgm:pt modelId="{BF4F4C6E-9D8C-45B0-A6FE-01C4FE758AB6}" type="pres">
      <dgm:prSet presAssocID="{8418A4EE-46A5-4999-BB93-783D91D27E02}" presName="sp" presStyleCnt="0"/>
      <dgm:spPr/>
    </dgm:pt>
    <dgm:pt modelId="{C0FD4D57-7E0A-4363-9A31-EFFC70A54633}" type="pres">
      <dgm:prSet presAssocID="{631D8015-58A4-4251-8833-CAD1FBB1193D}" presName="composite" presStyleCnt="0"/>
      <dgm:spPr/>
    </dgm:pt>
    <dgm:pt modelId="{90F6BF19-641D-4B51-A569-97E2B516A753}" type="pres">
      <dgm:prSet presAssocID="{631D8015-58A4-4251-8833-CAD1FBB1193D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70531E3-61CC-450F-9052-44833EDF6B66}" type="pres">
      <dgm:prSet presAssocID="{631D8015-58A4-4251-8833-CAD1FBB1193D}" presName="descendantText" presStyleLbl="alignAcc1" presStyleIdx="1" presStyleCnt="4">
        <dgm:presLayoutVars>
          <dgm:bulletEnabled val="1"/>
        </dgm:presLayoutVars>
      </dgm:prSet>
      <dgm:spPr/>
    </dgm:pt>
    <dgm:pt modelId="{9AC7442B-FC09-4F18-96EF-1E0220A41FA3}" type="pres">
      <dgm:prSet presAssocID="{3672FF54-BE7E-4803-B586-C826E3F4EA5E}" presName="sp" presStyleCnt="0"/>
      <dgm:spPr/>
    </dgm:pt>
    <dgm:pt modelId="{B1080733-5328-47F3-8F62-7952FE97879A}" type="pres">
      <dgm:prSet presAssocID="{A9FD6FED-41A7-4583-9172-393216C84C0E}" presName="composite" presStyleCnt="0"/>
      <dgm:spPr/>
    </dgm:pt>
    <dgm:pt modelId="{CA62DD65-8551-492B-8CED-79B4B703A390}" type="pres">
      <dgm:prSet presAssocID="{A9FD6FED-41A7-4583-9172-393216C84C0E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0FFEF95D-84F0-4ED2-BEE3-EFED2BA77BE1}" type="pres">
      <dgm:prSet presAssocID="{A9FD6FED-41A7-4583-9172-393216C84C0E}" presName="descendantText" presStyleLbl="alignAcc1" presStyleIdx="2" presStyleCnt="4">
        <dgm:presLayoutVars>
          <dgm:bulletEnabled val="1"/>
        </dgm:presLayoutVars>
      </dgm:prSet>
      <dgm:spPr/>
    </dgm:pt>
    <dgm:pt modelId="{7FBF5D8C-E18E-4E02-9E5C-276C22A470DB}" type="pres">
      <dgm:prSet presAssocID="{C3292177-C374-4F55-8B73-CA63B87E1B5D}" presName="sp" presStyleCnt="0"/>
      <dgm:spPr/>
    </dgm:pt>
    <dgm:pt modelId="{1B841CEC-6664-42F1-8BD8-2A4A1B66D546}" type="pres">
      <dgm:prSet presAssocID="{79DECA6E-53DE-4E93-85DE-C083E173F22D}" presName="composite" presStyleCnt="0"/>
      <dgm:spPr/>
    </dgm:pt>
    <dgm:pt modelId="{6600A798-F8B3-412A-9E6C-FC36EB1716A0}" type="pres">
      <dgm:prSet presAssocID="{79DECA6E-53DE-4E93-85DE-C083E173F22D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A50352A7-878D-4B6C-9E6E-708B9DB1DEBA}" type="pres">
      <dgm:prSet presAssocID="{79DECA6E-53DE-4E93-85DE-C083E173F22D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50CE014-9FF6-4EB5-9971-9D4952026111}" type="presOf" srcId="{E9BC3F2B-CE2E-4752-895A-18D97732C537}" destId="{4CCD9697-5364-4B98-B826-64FB5B0B026A}" srcOrd="0" destOrd="0" presId="urn:microsoft.com/office/officeart/2005/8/layout/chevron2"/>
    <dgm:cxn modelId="{EC766522-6165-460C-AF6F-183EE6B369C1}" type="presOf" srcId="{631D8015-58A4-4251-8833-CAD1FBB1193D}" destId="{90F6BF19-641D-4B51-A569-97E2B516A753}" srcOrd="0" destOrd="0" presId="urn:microsoft.com/office/officeart/2005/8/layout/chevron2"/>
    <dgm:cxn modelId="{4393E43C-1FBE-41B4-A001-973A8C48BE79}" type="presOf" srcId="{AE428A8F-6906-4665-872E-81E97841E5C6}" destId="{2EB898BE-527B-4CE7-BA24-D2A5A47B2027}" srcOrd="0" destOrd="0" presId="urn:microsoft.com/office/officeart/2005/8/layout/chevron2"/>
    <dgm:cxn modelId="{59675540-0F86-4F76-8F1A-A809F7B4F1A6}" type="presOf" srcId="{79DECA6E-53DE-4E93-85DE-C083E173F22D}" destId="{6600A798-F8B3-412A-9E6C-FC36EB1716A0}" srcOrd="0" destOrd="0" presId="urn:microsoft.com/office/officeart/2005/8/layout/chevron2"/>
    <dgm:cxn modelId="{CB6F7862-3252-423C-A6EE-5FD90E9EC053}" srcId="{AE428A8F-6906-4665-872E-81E97841E5C6}" destId="{E9BC3F2B-CE2E-4752-895A-18D97732C537}" srcOrd="0" destOrd="0" parTransId="{BF8451C2-B92A-4DDD-851C-32A2CF9311DF}" sibTransId="{F42B450D-F0AA-4517-8EF1-64896DF62E3F}"/>
    <dgm:cxn modelId="{66641C63-AFF9-4A14-95B9-B65AD1A53018}" type="presOf" srcId="{A9FD6FED-41A7-4583-9172-393216C84C0E}" destId="{CA62DD65-8551-492B-8CED-79B4B703A390}" srcOrd="0" destOrd="0" presId="urn:microsoft.com/office/officeart/2005/8/layout/chevron2"/>
    <dgm:cxn modelId="{921D5045-2799-4AFB-9EAF-57973808E37C}" type="presOf" srcId="{E8CAAE14-F460-4131-BB9C-0FB2B08899EE}" destId="{570531E3-61CC-450F-9052-44833EDF6B66}" srcOrd="0" destOrd="0" presId="urn:microsoft.com/office/officeart/2005/8/layout/chevron2"/>
    <dgm:cxn modelId="{87AFE649-825C-44E1-B634-C65350BEC9E5}" srcId="{79DECA6E-53DE-4E93-85DE-C083E173F22D}" destId="{84B197E1-81FF-4A36-B0AD-DB94881E71E4}" srcOrd="0" destOrd="0" parTransId="{552A6FB3-6DF5-4F03-B6CC-1A00B8FA12E9}" sibTransId="{429A2860-5A67-435D-A1CA-4BE9CFA44F2C}"/>
    <dgm:cxn modelId="{6E38764D-A9A8-48AC-B76B-34BBC88789FA}" srcId="{631D8015-58A4-4251-8833-CAD1FBB1193D}" destId="{E8CAAE14-F460-4131-BB9C-0FB2B08899EE}" srcOrd="0" destOrd="0" parTransId="{6E74ECDB-5D4F-4553-8C79-50652A487FCB}" sibTransId="{0001D971-4E84-46E4-867D-D72E4D8F6F75}"/>
    <dgm:cxn modelId="{9F748252-809B-4C96-96DC-E1D170C506D1}" srcId="{F1764EB3-D98F-4284-A292-CD636B050899}" destId="{AE428A8F-6906-4665-872E-81E97841E5C6}" srcOrd="0" destOrd="0" parTransId="{0E6C696E-4F95-4310-830D-5CD615FB4B46}" sibTransId="{8418A4EE-46A5-4999-BB93-783D91D27E02}"/>
    <dgm:cxn modelId="{AFD9827D-A92B-4C1F-9650-8E9506D03A99}" srcId="{F1764EB3-D98F-4284-A292-CD636B050899}" destId="{79DECA6E-53DE-4E93-85DE-C083E173F22D}" srcOrd="3" destOrd="0" parTransId="{E212E4EB-E0E9-43BD-ACA6-F77719D459C0}" sibTransId="{AF4B298C-5474-4B25-BE9D-062341DE3D07}"/>
    <dgm:cxn modelId="{0B868C84-81E7-4C7B-BEA0-A806E428028B}" type="presOf" srcId="{84B197E1-81FF-4A36-B0AD-DB94881E71E4}" destId="{A50352A7-878D-4B6C-9E6E-708B9DB1DEBA}" srcOrd="0" destOrd="0" presId="urn:microsoft.com/office/officeart/2005/8/layout/chevron2"/>
    <dgm:cxn modelId="{4CD84686-3299-4145-9D3F-5DE8997D692C}" srcId="{F1764EB3-D98F-4284-A292-CD636B050899}" destId="{A9FD6FED-41A7-4583-9172-393216C84C0E}" srcOrd="2" destOrd="0" parTransId="{288A1890-2C65-4CD9-A083-3E2D6D51B34F}" sibTransId="{C3292177-C374-4F55-8B73-CA63B87E1B5D}"/>
    <dgm:cxn modelId="{1F00068E-F4F6-4B83-8D71-81F9FFA9AF45}" type="presOf" srcId="{F1764EB3-D98F-4284-A292-CD636B050899}" destId="{556C8DCF-B056-4525-8761-244A3FBB5274}" srcOrd="0" destOrd="0" presId="urn:microsoft.com/office/officeart/2005/8/layout/chevron2"/>
    <dgm:cxn modelId="{30117B90-EE98-46C5-8398-D88AC29302FD}" srcId="{A9FD6FED-41A7-4583-9172-393216C84C0E}" destId="{D3B33AB3-2F6D-408E-999A-B3CDE6D666CA}" srcOrd="0" destOrd="0" parTransId="{CD85FDE0-6178-4CB3-8E48-AEDB91D0FF31}" sibTransId="{A31309FE-7509-4331-B557-E0D9958B4098}"/>
    <dgm:cxn modelId="{484017BF-1BA3-48A1-9504-E2D818E0BE21}" type="presOf" srcId="{D3B33AB3-2F6D-408E-999A-B3CDE6D666CA}" destId="{0FFEF95D-84F0-4ED2-BEE3-EFED2BA77BE1}" srcOrd="0" destOrd="0" presId="urn:microsoft.com/office/officeart/2005/8/layout/chevron2"/>
    <dgm:cxn modelId="{E4D4C8DE-9529-4A95-B4E6-E0675E6BE903}" srcId="{F1764EB3-D98F-4284-A292-CD636B050899}" destId="{631D8015-58A4-4251-8833-CAD1FBB1193D}" srcOrd="1" destOrd="0" parTransId="{57D39DA7-BAD1-4F4F-9D15-544D712459AD}" sibTransId="{3672FF54-BE7E-4803-B586-C826E3F4EA5E}"/>
    <dgm:cxn modelId="{47FE59AE-810E-44F0-9673-2FC67375A7F9}" type="presParOf" srcId="{556C8DCF-B056-4525-8761-244A3FBB5274}" destId="{7326156D-1CF3-4D87-98CE-63C347495F30}" srcOrd="0" destOrd="0" presId="urn:microsoft.com/office/officeart/2005/8/layout/chevron2"/>
    <dgm:cxn modelId="{1D1A8A14-C951-4E42-A8BF-844D4075EE96}" type="presParOf" srcId="{7326156D-1CF3-4D87-98CE-63C347495F30}" destId="{2EB898BE-527B-4CE7-BA24-D2A5A47B2027}" srcOrd="0" destOrd="0" presId="urn:microsoft.com/office/officeart/2005/8/layout/chevron2"/>
    <dgm:cxn modelId="{62F35A65-D78D-4BAE-B755-FE5E875A2014}" type="presParOf" srcId="{7326156D-1CF3-4D87-98CE-63C347495F30}" destId="{4CCD9697-5364-4B98-B826-64FB5B0B026A}" srcOrd="1" destOrd="0" presId="urn:microsoft.com/office/officeart/2005/8/layout/chevron2"/>
    <dgm:cxn modelId="{A5B7CF2D-BD3D-455B-828A-2896E9E13858}" type="presParOf" srcId="{556C8DCF-B056-4525-8761-244A3FBB5274}" destId="{BF4F4C6E-9D8C-45B0-A6FE-01C4FE758AB6}" srcOrd="1" destOrd="0" presId="urn:microsoft.com/office/officeart/2005/8/layout/chevron2"/>
    <dgm:cxn modelId="{84F44B18-53A2-4CF7-847F-D4997127CE46}" type="presParOf" srcId="{556C8DCF-B056-4525-8761-244A3FBB5274}" destId="{C0FD4D57-7E0A-4363-9A31-EFFC70A54633}" srcOrd="2" destOrd="0" presId="urn:microsoft.com/office/officeart/2005/8/layout/chevron2"/>
    <dgm:cxn modelId="{E94E02D9-D958-4B86-9CE9-1B9C15CC7072}" type="presParOf" srcId="{C0FD4D57-7E0A-4363-9A31-EFFC70A54633}" destId="{90F6BF19-641D-4B51-A569-97E2B516A753}" srcOrd="0" destOrd="0" presId="urn:microsoft.com/office/officeart/2005/8/layout/chevron2"/>
    <dgm:cxn modelId="{8ABF1F96-EBB6-425B-920D-F8904B4DC1AA}" type="presParOf" srcId="{C0FD4D57-7E0A-4363-9A31-EFFC70A54633}" destId="{570531E3-61CC-450F-9052-44833EDF6B66}" srcOrd="1" destOrd="0" presId="urn:microsoft.com/office/officeart/2005/8/layout/chevron2"/>
    <dgm:cxn modelId="{18F1CB21-FAD2-47A5-A672-B1D7A31E03D7}" type="presParOf" srcId="{556C8DCF-B056-4525-8761-244A3FBB5274}" destId="{9AC7442B-FC09-4F18-96EF-1E0220A41FA3}" srcOrd="3" destOrd="0" presId="urn:microsoft.com/office/officeart/2005/8/layout/chevron2"/>
    <dgm:cxn modelId="{7AF7B650-4559-4E58-BFED-817DF8F58063}" type="presParOf" srcId="{556C8DCF-B056-4525-8761-244A3FBB5274}" destId="{B1080733-5328-47F3-8F62-7952FE97879A}" srcOrd="4" destOrd="0" presId="urn:microsoft.com/office/officeart/2005/8/layout/chevron2"/>
    <dgm:cxn modelId="{B8AF2C86-91A4-4D63-A968-4AD1E96CCE98}" type="presParOf" srcId="{B1080733-5328-47F3-8F62-7952FE97879A}" destId="{CA62DD65-8551-492B-8CED-79B4B703A390}" srcOrd="0" destOrd="0" presId="urn:microsoft.com/office/officeart/2005/8/layout/chevron2"/>
    <dgm:cxn modelId="{DA6A6825-9503-44EB-924B-390C5A4B64F6}" type="presParOf" srcId="{B1080733-5328-47F3-8F62-7952FE97879A}" destId="{0FFEF95D-84F0-4ED2-BEE3-EFED2BA77BE1}" srcOrd="1" destOrd="0" presId="urn:microsoft.com/office/officeart/2005/8/layout/chevron2"/>
    <dgm:cxn modelId="{710D9DA8-9182-46CD-89D1-30EEF2047E1F}" type="presParOf" srcId="{556C8DCF-B056-4525-8761-244A3FBB5274}" destId="{7FBF5D8C-E18E-4E02-9E5C-276C22A470DB}" srcOrd="5" destOrd="0" presId="urn:microsoft.com/office/officeart/2005/8/layout/chevron2"/>
    <dgm:cxn modelId="{9FC64D13-3C35-4D08-B379-AAF59649B97F}" type="presParOf" srcId="{556C8DCF-B056-4525-8761-244A3FBB5274}" destId="{1B841CEC-6664-42F1-8BD8-2A4A1B66D546}" srcOrd="6" destOrd="0" presId="urn:microsoft.com/office/officeart/2005/8/layout/chevron2"/>
    <dgm:cxn modelId="{A5ED98C6-166F-43C3-9B2B-E6E7380B7FC9}" type="presParOf" srcId="{1B841CEC-6664-42F1-8BD8-2A4A1B66D546}" destId="{6600A798-F8B3-412A-9E6C-FC36EB1716A0}" srcOrd="0" destOrd="0" presId="urn:microsoft.com/office/officeart/2005/8/layout/chevron2"/>
    <dgm:cxn modelId="{C06494E3-B925-41A3-9427-E081A7CAC903}" type="presParOf" srcId="{1B841CEC-6664-42F1-8BD8-2A4A1B66D546}" destId="{A50352A7-878D-4B6C-9E6E-708B9DB1DEB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898BE-527B-4CE7-BA24-D2A5A47B2027}">
      <dsp:nvSpPr>
        <dsp:cNvPr id="0" name=""/>
        <dsp:cNvSpPr/>
      </dsp:nvSpPr>
      <dsp:spPr>
        <a:xfrm rot="5400000">
          <a:off x="-177618" y="180551"/>
          <a:ext cx="1184126" cy="82888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BLOCKAGE</a:t>
          </a:r>
          <a:br>
            <a:rPr lang="en-IN" sz="1200" kern="1200" dirty="0"/>
          </a:br>
          <a:r>
            <a:rPr lang="en-IN" sz="1200" kern="1200" dirty="0"/>
            <a:t> </a:t>
          </a:r>
        </a:p>
      </dsp:txBody>
      <dsp:txXfrm rot="-5400000">
        <a:off x="1" y="417376"/>
        <a:ext cx="828888" cy="355238"/>
      </dsp:txXfrm>
    </dsp:sp>
    <dsp:sp modelId="{4CCD9697-5364-4B98-B826-64FB5B0B026A}">
      <dsp:nvSpPr>
        <dsp:cNvPr id="0" name=""/>
        <dsp:cNvSpPr/>
      </dsp:nvSpPr>
      <dsp:spPr>
        <a:xfrm rot="5400000">
          <a:off x="2612837" y="-1781016"/>
          <a:ext cx="769682" cy="43375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100" kern="1200" dirty="0"/>
            <a:t>Waste and debris block the drainage flow.</a:t>
          </a:r>
        </a:p>
      </dsp:txBody>
      <dsp:txXfrm rot="-5400000">
        <a:off x="828889" y="40505"/>
        <a:ext cx="4300006" cy="694536"/>
      </dsp:txXfrm>
    </dsp:sp>
    <dsp:sp modelId="{90F6BF19-641D-4B51-A569-97E2B516A753}">
      <dsp:nvSpPr>
        <dsp:cNvPr id="0" name=""/>
        <dsp:cNvSpPr/>
      </dsp:nvSpPr>
      <dsp:spPr>
        <a:xfrm rot="5400000">
          <a:off x="-177618" y="1217156"/>
          <a:ext cx="1184126" cy="82888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WATER RISES </a:t>
          </a:r>
        </a:p>
      </dsp:txBody>
      <dsp:txXfrm rot="-5400000">
        <a:off x="1" y="1453981"/>
        <a:ext cx="828888" cy="355238"/>
      </dsp:txXfrm>
    </dsp:sp>
    <dsp:sp modelId="{570531E3-61CC-450F-9052-44833EDF6B66}">
      <dsp:nvSpPr>
        <dsp:cNvPr id="0" name=""/>
        <dsp:cNvSpPr/>
      </dsp:nvSpPr>
      <dsp:spPr>
        <a:xfrm rot="5400000">
          <a:off x="2612837" y="-744411"/>
          <a:ext cx="769682" cy="43375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100" kern="1200" dirty="0"/>
            <a:t>Water level starts rising rapidly inside the drain.</a:t>
          </a:r>
        </a:p>
      </dsp:txBody>
      <dsp:txXfrm rot="-5400000">
        <a:off x="828889" y="1077110"/>
        <a:ext cx="4300006" cy="694536"/>
      </dsp:txXfrm>
    </dsp:sp>
    <dsp:sp modelId="{CA62DD65-8551-492B-8CED-79B4B703A390}">
      <dsp:nvSpPr>
        <dsp:cNvPr id="0" name=""/>
        <dsp:cNvSpPr/>
      </dsp:nvSpPr>
      <dsp:spPr>
        <a:xfrm rot="5400000">
          <a:off x="-177618" y="2253761"/>
          <a:ext cx="1184126" cy="82888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NO EARLY ALERT</a:t>
          </a:r>
        </a:p>
      </dsp:txBody>
      <dsp:txXfrm rot="-5400000">
        <a:off x="1" y="2490586"/>
        <a:ext cx="828888" cy="355238"/>
      </dsp:txXfrm>
    </dsp:sp>
    <dsp:sp modelId="{0FFEF95D-84F0-4ED2-BEE3-EFED2BA77BE1}">
      <dsp:nvSpPr>
        <dsp:cNvPr id="0" name=""/>
        <dsp:cNvSpPr/>
      </dsp:nvSpPr>
      <dsp:spPr>
        <a:xfrm rot="5400000">
          <a:off x="2612837" y="292193"/>
          <a:ext cx="769682" cy="43375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100" kern="1200" dirty="0"/>
            <a:t>The blockage may not be detected in time.</a:t>
          </a:r>
        </a:p>
      </dsp:txBody>
      <dsp:txXfrm rot="-5400000">
        <a:off x="828889" y="2113715"/>
        <a:ext cx="4300006" cy="694536"/>
      </dsp:txXfrm>
    </dsp:sp>
    <dsp:sp modelId="{6600A798-F8B3-412A-9E6C-FC36EB1716A0}">
      <dsp:nvSpPr>
        <dsp:cNvPr id="0" name=""/>
        <dsp:cNvSpPr/>
      </dsp:nvSpPr>
      <dsp:spPr>
        <a:xfrm rot="5400000">
          <a:off x="-177618" y="3290366"/>
          <a:ext cx="1184126" cy="82888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URBAN FLOODING</a:t>
          </a:r>
        </a:p>
      </dsp:txBody>
      <dsp:txXfrm rot="-5400000">
        <a:off x="1" y="3527191"/>
        <a:ext cx="828888" cy="355238"/>
      </dsp:txXfrm>
    </dsp:sp>
    <dsp:sp modelId="{A50352A7-878D-4B6C-9E6E-708B9DB1DEBA}">
      <dsp:nvSpPr>
        <dsp:cNvPr id="0" name=""/>
        <dsp:cNvSpPr/>
      </dsp:nvSpPr>
      <dsp:spPr>
        <a:xfrm rot="5400000">
          <a:off x="2612837" y="1328798"/>
          <a:ext cx="769682" cy="43375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100" kern="1200" dirty="0"/>
            <a:t>Drain overflow can lead to road flooding and public inconvenience.</a:t>
          </a:r>
        </a:p>
      </dsp:txBody>
      <dsp:txXfrm rot="-5400000">
        <a:off x="828889" y="3150320"/>
        <a:ext cx="4300006" cy="694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108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22BA07-7AAF-8840-F377-7E89ED50F896}"/>
              </a:ext>
            </a:extLst>
          </p:cNvPr>
          <p:cNvSpPr/>
          <p:nvPr/>
        </p:nvSpPr>
        <p:spPr>
          <a:xfrm>
            <a:off x="0" y="0"/>
            <a:ext cx="5107021" cy="6857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216E65-2F04-C7C1-AE55-E5A67BDAF76E}"/>
              </a:ext>
            </a:extLst>
          </p:cNvPr>
          <p:cNvSpPr/>
          <p:nvPr/>
        </p:nvSpPr>
        <p:spPr>
          <a:xfrm>
            <a:off x="11031166" y="6488348"/>
            <a:ext cx="1160834" cy="3696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2B075C-2681-9917-E685-991F39CC2468}"/>
              </a:ext>
            </a:extLst>
          </p:cNvPr>
          <p:cNvSpPr txBox="1"/>
          <p:nvPr/>
        </p:nvSpPr>
        <p:spPr>
          <a:xfrm>
            <a:off x="6206247" y="1857983"/>
            <a:ext cx="51070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Smart IoT-Based Drainage Blockage Prediction System</a:t>
            </a:r>
            <a:endParaRPr lang="en-IN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F226D-033A-789E-7565-5F71550FFF0D}"/>
              </a:ext>
            </a:extLst>
          </p:cNvPr>
          <p:cNvSpPr txBox="1"/>
          <p:nvPr/>
        </p:nvSpPr>
        <p:spPr>
          <a:xfrm>
            <a:off x="9636868" y="5338987"/>
            <a:ext cx="394943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T.RAJASARANYA</a:t>
            </a:r>
          </a:p>
          <a:p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B.KAMALI</a:t>
            </a:r>
          </a:p>
          <a:p>
            <a:r>
              <a:rPr lang="en-IN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C.Rajisha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9DCB68-24D0-B8EA-BCDB-A5CBE05E4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107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37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0EFD-28AF-33EC-99FB-4ACF5B28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88634E-BC93-7667-89C0-C74A5F70D9F3}"/>
              </a:ext>
            </a:extLst>
          </p:cNvPr>
          <p:cNvSpPr/>
          <p:nvPr/>
        </p:nvSpPr>
        <p:spPr>
          <a:xfrm>
            <a:off x="11031166" y="6488348"/>
            <a:ext cx="1160834" cy="3696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E2FB4-8A18-B88D-5012-DBF3373FA59D}"/>
              </a:ext>
            </a:extLst>
          </p:cNvPr>
          <p:cNvSpPr txBox="1"/>
          <p:nvPr/>
        </p:nvSpPr>
        <p:spPr>
          <a:xfrm>
            <a:off x="436518" y="505839"/>
            <a:ext cx="5659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WHAT IF A DRAIN BLOCKAGE GOES UNDETECTED?</a:t>
            </a:r>
            <a:endParaRPr lang="en-IN" sz="28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8A35056-82E8-37AE-0CA1-FDA9E0C147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6564460"/>
              </p:ext>
            </p:extLst>
          </p:nvPr>
        </p:nvGraphicFramePr>
        <p:xfrm>
          <a:off x="579483" y="1770254"/>
          <a:ext cx="5166468" cy="4299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DBD0EE-46F2-5E82-DCB4-C86288ED88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5532" y="-1"/>
            <a:ext cx="5166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3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083613" y="1522908"/>
            <a:ext cx="9293077" cy="5069825"/>
          </a:xfrm>
          <a:prstGeom prst="rect">
            <a:avLst/>
          </a:prstGeom>
        </p:spPr>
      </p:pic>
      <p:sp>
        <p:nvSpPr>
          <p:cNvPr id="17" name="Cloud 16">
            <a:extLst>
              <a:ext uri="{FF2B5EF4-FFF2-40B4-BE49-F238E27FC236}">
                <a16:creationId xmlns:a16="http://schemas.microsoft.com/office/drawing/2014/main" id="{A7ED8C35-1C42-5EDF-B737-07BB56BCCC7C}"/>
              </a:ext>
            </a:extLst>
          </p:cNvPr>
          <p:cNvSpPr/>
          <p:nvPr/>
        </p:nvSpPr>
        <p:spPr>
          <a:xfrm>
            <a:off x="2768045" y="1477179"/>
            <a:ext cx="1882653" cy="1154738"/>
          </a:xfrm>
          <a:prstGeom prst="cloud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698086" y="483195"/>
            <a:ext cx="10795524" cy="44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8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               </a:t>
            </a:r>
            <a:r>
              <a:rPr lang="en-IN" sz="2800" b="1" dirty="0"/>
              <a:t>How the System Responds to a Drain Blockage</a:t>
            </a:r>
          </a:p>
          <a:p>
            <a:r>
              <a:rPr lang="en-IN" sz="2800" b="1" dirty="0"/>
              <a:t>From water-level monitoring to early warning — automatically.</a:t>
            </a:r>
            <a:endParaRPr lang="en-IN" sz="2800" dirty="0"/>
          </a:p>
          <a:p>
            <a:endParaRPr lang="en-IN" sz="2800" b="1" dirty="0">
              <a:ln>
                <a:solidFill>
                  <a:schemeClr val="tx1"/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98086" y="975816"/>
            <a:ext cx="10795524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62944" y="4439409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6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Alert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1462944" y="3381433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6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Locate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3278669" y="1884568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b="1" dirty="0">
                <a:latin typeface="Algerian" panose="04020705040A02060702" pitchFamily="82" charset="0"/>
              </a:rPr>
              <a:t>Detect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 algn="l">
              <a:lnSpc>
                <a:spcPct val="104000"/>
              </a:lnSpc>
              <a:buNone/>
            </a:pPr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28F10C-C3CD-ECFB-D44C-296974773D71}"/>
              </a:ext>
            </a:extLst>
          </p:cNvPr>
          <p:cNvSpPr/>
          <p:nvPr/>
        </p:nvSpPr>
        <p:spPr>
          <a:xfrm>
            <a:off x="11031166" y="6488348"/>
            <a:ext cx="1160834" cy="3696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8C331D-CB11-00D5-6B51-E7826A4213F7}"/>
              </a:ext>
            </a:extLst>
          </p:cNvPr>
          <p:cNvSpPr txBox="1"/>
          <p:nvPr/>
        </p:nvSpPr>
        <p:spPr>
          <a:xfrm>
            <a:off x="5382479" y="1962243"/>
            <a:ext cx="567533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400" dirty="0"/>
              <a:t>Ultrasonic</a:t>
            </a:r>
            <a:r>
              <a:rPr lang="en-IN" dirty="0"/>
              <a:t> </a:t>
            </a:r>
            <a:r>
              <a:rPr lang="en-IN" sz="2400" dirty="0"/>
              <a:t>sensor</a:t>
            </a:r>
            <a:r>
              <a:rPr lang="en-IN" dirty="0"/>
              <a:t> </a:t>
            </a:r>
            <a:r>
              <a:rPr lang="en-IN" sz="2400" dirty="0"/>
              <a:t>continuously</a:t>
            </a:r>
            <a:r>
              <a:rPr lang="en-IN" dirty="0"/>
              <a:t> </a:t>
            </a:r>
            <a:r>
              <a:rPr lang="en-IN" sz="2400" dirty="0"/>
              <a:t>measures</a:t>
            </a:r>
            <a:r>
              <a:rPr lang="en-IN" dirty="0"/>
              <a:t> </a:t>
            </a:r>
            <a:r>
              <a:rPr lang="en-IN" sz="2400" dirty="0"/>
              <a:t>the</a:t>
            </a:r>
            <a:r>
              <a:rPr lang="en-IN" dirty="0"/>
              <a:t> </a:t>
            </a:r>
            <a:r>
              <a:rPr lang="en-IN" sz="2400" dirty="0"/>
              <a:t>water</a:t>
            </a:r>
            <a:r>
              <a:rPr lang="en-IN" dirty="0"/>
              <a:t> </a:t>
            </a:r>
            <a:r>
              <a:rPr lang="en-IN" sz="2400" dirty="0"/>
              <a:t>level</a:t>
            </a:r>
            <a:r>
              <a:rPr lang="en-IN" dirty="0"/>
              <a:t>.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82306F-A757-39C5-3D16-D4C53CA2BA48}"/>
              </a:ext>
            </a:extLst>
          </p:cNvPr>
          <p:cNvSpPr txBox="1"/>
          <p:nvPr/>
        </p:nvSpPr>
        <p:spPr>
          <a:xfrm>
            <a:off x="3831220" y="4299628"/>
            <a:ext cx="6897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Abnormal rise in water level indicates a possible downstream blockage.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endParaRPr>
          </a:p>
          <a:p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C8C10-330A-C891-8861-C5DFA056DD31}"/>
              </a:ext>
            </a:extLst>
          </p:cNvPr>
          <p:cNvSpPr txBox="1"/>
          <p:nvPr/>
        </p:nvSpPr>
        <p:spPr>
          <a:xfrm>
            <a:off x="2816039" y="5357777"/>
            <a:ext cx="8641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Location-based warning is sent to municipal workers via </a:t>
            </a:r>
            <a:r>
              <a:rPr lang="en-IN" sz="2400" b="1" dirty="0"/>
              <a:t>Wi-Fi</a:t>
            </a:r>
            <a:r>
              <a:rPr lang="en-IN" sz="2400" dirty="0"/>
              <a:t>.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1CDD7F0E-7B2D-E871-A5C4-22F611AC574D}"/>
              </a:ext>
            </a:extLst>
          </p:cNvPr>
          <p:cNvSpPr/>
          <p:nvPr/>
        </p:nvSpPr>
        <p:spPr>
          <a:xfrm>
            <a:off x="1724052" y="2793240"/>
            <a:ext cx="1882653" cy="1154738"/>
          </a:xfrm>
          <a:prstGeom prst="cloud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  <a:r>
              <a:rPr lang="en-IN" dirty="0" err="1">
                <a:solidFill>
                  <a:schemeClr val="tx1"/>
                </a:solidFill>
                <a:latin typeface="Algerian" panose="04020705040A02060702" pitchFamily="82" charset="0"/>
              </a:rPr>
              <a:t>nalyze</a:t>
            </a: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6B8441B0-5B87-32AA-6E33-84EC779F23B3}"/>
              </a:ext>
            </a:extLst>
          </p:cNvPr>
          <p:cNvSpPr/>
          <p:nvPr/>
        </p:nvSpPr>
        <p:spPr>
          <a:xfrm>
            <a:off x="885392" y="3954882"/>
            <a:ext cx="1882653" cy="1154738"/>
          </a:xfrm>
          <a:prstGeom prst="cloud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  <a:r>
              <a:rPr lang="en-IN" dirty="0" err="1">
                <a:solidFill>
                  <a:schemeClr val="tx1"/>
                </a:solidFill>
                <a:latin typeface="Algerian" panose="04020705040A02060702" pitchFamily="82" charset="0"/>
              </a:rPr>
              <a:t>redict</a:t>
            </a: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E83616A2-629D-F152-3E71-0B22736933B4}"/>
              </a:ext>
            </a:extLst>
          </p:cNvPr>
          <p:cNvSpPr/>
          <p:nvPr/>
        </p:nvSpPr>
        <p:spPr>
          <a:xfrm>
            <a:off x="307839" y="5228199"/>
            <a:ext cx="1882653" cy="1154738"/>
          </a:xfrm>
          <a:prstGeom prst="cloud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  <a:r>
              <a:rPr lang="en-IN" dirty="0" err="1">
                <a:solidFill>
                  <a:schemeClr val="tx1"/>
                </a:solidFill>
                <a:latin typeface="Algerian" panose="04020705040A02060702" pitchFamily="82" charset="0"/>
              </a:rPr>
              <a:t>lert</a:t>
            </a: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BE2852-0A50-B610-9E64-CB03BD406531}"/>
              </a:ext>
            </a:extLst>
          </p:cNvPr>
          <p:cNvSpPr txBox="1"/>
          <p:nvPr/>
        </p:nvSpPr>
        <p:spPr>
          <a:xfrm>
            <a:off x="4817806" y="3092411"/>
            <a:ext cx="51837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ESP8266 calculates the </a:t>
            </a:r>
            <a:r>
              <a:rPr lang="en-IN" sz="2400" b="1" dirty="0"/>
              <a:t>Rate of Rise (</a:t>
            </a:r>
            <a:r>
              <a:rPr lang="en-IN" sz="2400" b="1" dirty="0" err="1"/>
              <a:t>RoR</a:t>
            </a:r>
            <a:r>
              <a:rPr lang="en-IN" sz="2400" b="1" dirty="0"/>
              <a:t>)</a:t>
            </a:r>
            <a:r>
              <a:rPr lang="en-IN" sz="2400" dirty="0"/>
              <a:t> of water.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5478" y="2801044"/>
            <a:ext cx="3482193" cy="2121991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50000" endA="300" endPos="55500" dist="101600" dir="5400000" sy="-100000" algn="bl" rotWithShape="0"/>
            <a:softEdge rad="12700"/>
          </a:effectLst>
        </p:spPr>
      </p:pic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35917817-27BF-FEC2-9E5C-95BD2CC87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135" y="2801045"/>
            <a:ext cx="3482193" cy="212199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98086" y="111234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3200" b="1" dirty="0"/>
              <a:t>How Does It Know That a Drain Is Blocked?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730276"/>
            <a:ext cx="10795524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dirty="0"/>
              <a:t>The system continuously monitors the </a:t>
            </a:r>
            <a:r>
              <a:rPr lang="en-IN" sz="1400" b="1" dirty="0"/>
              <a:t>water level inside the drain</a:t>
            </a:r>
            <a:r>
              <a:rPr lang="en-IN" sz="1400" dirty="0"/>
              <a:t>. A rapid increase in water level indicates a possible downstream blockage. Instead of waiting for overflow, the system detects the risk early using the </a:t>
            </a:r>
            <a:r>
              <a:rPr lang="en-IN" sz="1400" b="1" dirty="0"/>
              <a:t>Rate of Rise (</a:t>
            </a:r>
            <a:r>
              <a:rPr lang="en-IN" sz="1400" b="1" dirty="0" err="1"/>
              <a:t>RoR</a:t>
            </a:r>
            <a:r>
              <a:rPr lang="en-IN" sz="1400" b="1" dirty="0"/>
              <a:t>)</a:t>
            </a:r>
            <a:r>
              <a:rPr lang="en-IN" sz="1400" dirty="0"/>
              <a:t>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67855" y="2922984"/>
            <a:ext cx="3018754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</a:rPr>
              <a:t>Rapid water level raise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7855" y="3541018"/>
            <a:ext cx="3018754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3674" y="2772501"/>
            <a:ext cx="3482193" cy="21219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98992" y="2882449"/>
            <a:ext cx="301885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dirty="0">
                <a:latin typeface="Source Serif 4 SemiBold" panose="020B0604020202020204" charset="0"/>
                <a:ea typeface="Source Serif 4 SemiBold" panose="020B0604020202020204" charset="0"/>
              </a:rPr>
              <a:t>Rate</a:t>
            </a:r>
            <a:r>
              <a:rPr lang="en-IN" dirty="0">
                <a:latin typeface="Source Sans 3" panose="020B0604020202020204" charset="0"/>
              </a:rPr>
              <a:t> </a:t>
            </a:r>
            <a:r>
              <a:rPr lang="en-IN" dirty="0">
                <a:latin typeface="Source Serif 4 SemiBold" panose="020B0604020202020204" charset="0"/>
                <a:ea typeface="Source Serif 4 SemiBold" panose="020B0604020202020204" charset="0"/>
              </a:rPr>
              <a:t>of Rise (</a:t>
            </a:r>
            <a:r>
              <a:rPr lang="en-IN" dirty="0" err="1">
                <a:latin typeface="Source Serif 4 SemiBold" panose="020B0604020202020204" charset="0"/>
                <a:ea typeface="Source Serif 4 SemiBold" panose="020B0604020202020204" charset="0"/>
              </a:rPr>
              <a:t>RoR</a:t>
            </a:r>
            <a:r>
              <a:rPr lang="en-IN" dirty="0">
                <a:latin typeface="Source Serif 4 SemiBold" panose="020B0604020202020204" charset="0"/>
                <a:ea typeface="Source Serif 4 SemiBold" panose="020B0604020202020204" charset="0"/>
              </a:rPr>
              <a:t>) Analysis</a:t>
            </a:r>
            <a:endParaRPr lang="en-US" dirty="0">
              <a:latin typeface="Source Serif 4 SemiBold" panose="020B0604020202020204" charset="0"/>
              <a:ea typeface="Source Serif 4 SemiBold" panose="020B06040202020202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624470" y="3407117"/>
            <a:ext cx="3018853" cy="1422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dirty="0"/>
              <a:t>The ESP8266 calculates </a:t>
            </a:r>
            <a:r>
              <a:rPr lang="en-IN" sz="1400" b="1" dirty="0"/>
              <a:t>how fast the water </a:t>
            </a:r>
            <a:r>
              <a:rPr lang="en-IN" b="1" dirty="0"/>
              <a:t>level</a:t>
            </a:r>
            <a:r>
              <a:rPr lang="en-IN" sz="1400" b="1" dirty="0"/>
              <a:t> is increasing</a:t>
            </a:r>
            <a:r>
              <a:rPr lang="en-IN" sz="1400" dirty="0"/>
              <a:t> </a:t>
            </a:r>
            <a:r>
              <a:rPr lang="en-IN" dirty="0"/>
              <a:t>over</a:t>
            </a:r>
            <a:r>
              <a:rPr lang="en-IN" sz="1400" dirty="0"/>
              <a:t> time. An abnormal rise indicates </a:t>
            </a:r>
            <a:r>
              <a:rPr lang="en-IN" dirty="0"/>
              <a:t>restricted</a:t>
            </a:r>
            <a:r>
              <a:rPr lang="en-IN" sz="1400" dirty="0"/>
              <a:t> water flow.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281185" y="2922984"/>
            <a:ext cx="301885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dirty="0">
                <a:latin typeface="Source Serif 4 SemiBold" panose="020B0604020202020204" charset="0"/>
                <a:ea typeface="Source Serif 4 SemiBold" panose="020B0604020202020204" charset="0"/>
              </a:rPr>
              <a:t>Blockage Prediction</a:t>
            </a:r>
            <a:endParaRPr lang="en-US" dirty="0">
              <a:latin typeface="Source Serif 4 SemiBold" panose="020B0604020202020204" charset="0"/>
              <a:ea typeface="Source Serif 4 SemiBold" panose="020B060402020202020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281185" y="3284339"/>
            <a:ext cx="3018853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impact sensor registers collision force magnitude. Combined with accelerometer data, this distinguishes a </a:t>
            </a:r>
            <a:r>
              <a:rPr lang="en-US" kern="0" spc="-27" dirty="0">
                <a:solidFill>
                  <a:srgbClr val="272525"/>
                </a:solidFill>
                <a:latin typeface="+mj-lt"/>
                <a:ea typeface="Source Sans 3" pitchFamily="34" charset="-122"/>
                <a:cs typeface="Source Sans 3" pitchFamily="34" charset="-120"/>
              </a:rPr>
              <a:t>crash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a pothole or speed </a:t>
            </a:r>
            <a:r>
              <a:rPr lang="en-US" sz="1350" kern="0" spc="-27" dirty="0">
                <a:solidFill>
                  <a:srgbClr val="272525"/>
                </a:solidFill>
                <a:latin typeface="Calibri body"/>
                <a:ea typeface="Source Sans 3" pitchFamily="34" charset="-122"/>
                <a:cs typeface="Source Sans 3" pitchFamily="34" charset="-120"/>
              </a:rPr>
              <a:t>bump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98086" y="5162481"/>
            <a:ext cx="10795524" cy="405682"/>
          </a:xfrm>
          <a:prstGeom prst="roundRect">
            <a:avLst>
              <a:gd name="adj" fmla="val 105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IN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607" y="5297190"/>
            <a:ext cx="215413" cy="1723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5305" y="5265837"/>
            <a:ext cx="1066336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b="1" dirty="0"/>
              <a:t>The system predicts blockage based on the speed of water rise, allowing action before the drain overflows.</a:t>
            </a:r>
            <a:endParaRPr lang="en-US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F16C97-696B-C1A6-A826-455AE86D2698}"/>
              </a:ext>
            </a:extLst>
          </p:cNvPr>
          <p:cNvSpPr/>
          <p:nvPr/>
        </p:nvSpPr>
        <p:spPr>
          <a:xfrm>
            <a:off x="11031166" y="6488348"/>
            <a:ext cx="1160834" cy="3696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480E32-6BBB-E8B7-01A5-F0BBC6BBEE0D}"/>
              </a:ext>
            </a:extLst>
          </p:cNvPr>
          <p:cNvSpPr txBox="1"/>
          <p:nvPr/>
        </p:nvSpPr>
        <p:spPr>
          <a:xfrm>
            <a:off x="891961" y="3179663"/>
            <a:ext cx="30946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The ultrasonic sensor continuously measures the distance between the sensor and water surface. A sudden rise in water level is detected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6">
            <a:extLst>
              <a:ext uri="{FF2B5EF4-FFF2-40B4-BE49-F238E27FC236}">
                <a16:creationId xmlns:a16="http://schemas.microsoft.com/office/drawing/2014/main" id="{4589E3BC-0DAD-9B5B-F9CB-B208197C7262}"/>
              </a:ext>
            </a:extLst>
          </p:cNvPr>
          <p:cNvSpPr/>
          <p:nvPr/>
        </p:nvSpPr>
        <p:spPr>
          <a:xfrm>
            <a:off x="2261314" y="4601174"/>
            <a:ext cx="3494347" cy="210641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184702" y="488900"/>
            <a:ext cx="7406243" cy="1811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2800" b="1" dirty="0"/>
              <a:t>Not Every Water Rise Means a Blockage</a:t>
            </a:r>
          </a:p>
          <a:p>
            <a:r>
              <a:rPr lang="en-IN" sz="1600" dirty="0"/>
              <a:t>Water levels in drains can change due to normal flow or rainfall. The system </a:t>
            </a:r>
            <a:r>
              <a:rPr lang="en-IN" sz="1600" dirty="0" err="1"/>
              <a:t>analyzes</a:t>
            </a:r>
            <a:r>
              <a:rPr lang="en-IN" sz="1600" dirty="0"/>
              <a:t> the </a:t>
            </a:r>
            <a:r>
              <a:rPr lang="en-IN" sz="1600" b="1" dirty="0"/>
              <a:t>Rate of Rise (</a:t>
            </a:r>
            <a:r>
              <a:rPr lang="en-IN" sz="1600" b="1" dirty="0" err="1"/>
              <a:t>RoR</a:t>
            </a:r>
            <a:r>
              <a:rPr lang="en-IN" sz="1600" b="1" dirty="0"/>
              <a:t>)</a:t>
            </a:r>
            <a:r>
              <a:rPr lang="en-IN" sz="1600" dirty="0"/>
              <a:t> to identify the level of blockage risk. This helps municipal workers respond based on the urgency of the situation.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317" y="2200926"/>
            <a:ext cx="3594209" cy="2106414"/>
          </a:xfrm>
          <a:custGeom>
            <a:avLst/>
            <a:gdLst/>
            <a:ahLst/>
            <a:cxnLst/>
            <a:rect l="l" t="t" r="r" b="b"/>
            <a:pathLst>
              <a:path w="3594209" h="2106414">
                <a:moveTo>
                  <a:pt x="61090" y="0"/>
                </a:moveTo>
                <a:lnTo>
                  <a:pt x="3594209" y="0"/>
                </a:lnTo>
                <a:lnTo>
                  <a:pt x="3594209" y="2106414"/>
                </a:lnTo>
                <a:lnTo>
                  <a:pt x="61090" y="2106414"/>
                </a:lnTo>
                <a:arcTo wR="61090" hR="61092" stAng="5400000" swAng="5400000"/>
                <a:lnTo>
                  <a:pt x="0" y="61092"/>
                </a:lnTo>
                <a:arcTo wR="61090" hR="61092" stAng="10800000" swAng="5400000"/>
                <a:close/>
              </a:path>
            </a:pathLst>
          </a:cu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/>
              <a:t>🟢 NORMAL</a:t>
            </a:r>
          </a:p>
          <a:p>
            <a:r>
              <a:rPr lang="en-IN" b="1" dirty="0"/>
              <a:t>                                                                  Slow rise + normal water flow</a:t>
            </a:r>
            <a:br>
              <a:rPr lang="en-IN" dirty="0"/>
            </a:br>
            <a:r>
              <a:rPr lang="en-IN" b="1" dirty="0"/>
              <a:t>Response:</a:t>
            </a:r>
            <a:r>
              <a:rPr lang="en-IN" dirty="0"/>
              <a:t> Continue monitoring.</a:t>
            </a:r>
          </a:p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1495067" y="3389093"/>
            <a:ext cx="324516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6882" y="2180652"/>
            <a:ext cx="3338704" cy="210641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4477879" y="2674718"/>
            <a:ext cx="324526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45720" y="2535875"/>
            <a:ext cx="3594209" cy="1395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b="1" dirty="0"/>
              <a:t>🟡 </a:t>
            </a:r>
            <a:r>
              <a:rPr lang="en-IN" b="1" dirty="0"/>
              <a:t>WARNING</a:t>
            </a:r>
          </a:p>
          <a:p>
            <a:endParaRPr lang="en-IN" b="1" dirty="0"/>
          </a:p>
          <a:p>
            <a:r>
              <a:rPr lang="en-IN" b="1" dirty="0"/>
              <a:t>Faster rise + restricted water </a:t>
            </a:r>
            <a:r>
              <a:rPr lang="en-IN" b="1" dirty="0" err="1"/>
              <a:t>flowResponse</a:t>
            </a:r>
            <a:r>
              <a:rPr lang="en-IN" b="1" dirty="0"/>
              <a:t>:</a:t>
            </a:r>
            <a:r>
              <a:rPr lang="en-IN" dirty="0"/>
              <a:t> Possible blockage detected; send warning alert.</a:t>
            </a:r>
          </a:p>
          <a:p>
            <a:endParaRPr lang="en-IN" sz="1400" dirty="0"/>
          </a:p>
        </p:txBody>
      </p:sp>
      <p:sp>
        <p:nvSpPr>
          <p:cNvPr id="14" name="Text 12"/>
          <p:cNvSpPr/>
          <p:nvPr/>
        </p:nvSpPr>
        <p:spPr>
          <a:xfrm>
            <a:off x="2579958" y="4870362"/>
            <a:ext cx="324526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60617" y="4836181"/>
            <a:ext cx="3494346" cy="2021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b="1" dirty="0"/>
              <a:t>🔴 </a:t>
            </a:r>
            <a:r>
              <a:rPr lang="en-IN" b="1" dirty="0"/>
              <a:t>CRITICAL</a:t>
            </a:r>
          </a:p>
          <a:p>
            <a:endParaRPr lang="en-IN" sz="1400" b="1" dirty="0"/>
          </a:p>
          <a:p>
            <a:r>
              <a:rPr lang="en-IN" b="1" dirty="0"/>
              <a:t>Rapid rise + high water level</a:t>
            </a:r>
            <a:br>
              <a:rPr lang="en-IN" dirty="0"/>
            </a:br>
            <a:r>
              <a:rPr lang="en-IN" b="1" dirty="0"/>
              <a:t>Response:</a:t>
            </a:r>
            <a:r>
              <a:rPr lang="en-IN" dirty="0"/>
              <a:t> High blockage risk; send immediate alert to municipal workers.</a:t>
            </a:r>
          </a:p>
        </p:txBody>
      </p:sp>
      <p:sp>
        <p:nvSpPr>
          <p:cNvPr id="16" name="Text 14"/>
          <p:cNvSpPr/>
          <p:nvPr/>
        </p:nvSpPr>
        <p:spPr>
          <a:xfrm>
            <a:off x="-71695" y="4587319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06A1CA-3799-5378-98A2-4467710BDAC7}"/>
              </a:ext>
            </a:extLst>
          </p:cNvPr>
          <p:cNvSpPr/>
          <p:nvPr/>
        </p:nvSpPr>
        <p:spPr>
          <a:xfrm>
            <a:off x="11031166" y="6488348"/>
            <a:ext cx="1160834" cy="3696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E70DE-0B71-247B-6E4B-712926962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031" y="13536"/>
            <a:ext cx="37802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621" y="374504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3200" b="1" dirty="0"/>
              <a:t>Finding the Blocked drain</a:t>
            </a:r>
            <a:endParaRPr lang="en-IN" dirty="0"/>
          </a:p>
          <a:p>
            <a:pPr marL="0" indent="0" algn="l">
              <a:lnSpc>
                <a:spcPct val="104000"/>
              </a:lnSpc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255342"/>
            <a:ext cx="5745912" cy="1079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dirty="0"/>
              <a:t>The system identifies the </a:t>
            </a:r>
            <a:r>
              <a:rPr lang="en-IN" b="1" dirty="0"/>
              <a:t>exact manhole location</a:t>
            </a:r>
            <a:r>
              <a:rPr lang="en-IN" dirty="0"/>
              <a:t> where abnormal water rise is detected. The location information is attached to the blockage alert, helping municipal workers quickly find and clear the affected drain.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4375" y="2780566"/>
            <a:ext cx="2785695" cy="1633438"/>
          </a:xfrm>
          <a:prstGeom prst="roundRect">
            <a:avLst>
              <a:gd name="adj" fmla="val 4488"/>
            </a:avLst>
          </a:prstGeom>
          <a:solidFill>
            <a:srgbClr val="FFFFFF">
              <a:alpha val="95000"/>
            </a:srgbClr>
          </a:solidFill>
          <a:ln w="1905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r>
              <a:rPr lang="en-IN" b="1" dirty="0"/>
              <a:t>Manhole Location</a:t>
            </a:r>
          </a:p>
          <a:p>
            <a:r>
              <a:rPr lang="en-IN" dirty="0"/>
              <a:t>Each monitoring unit is assigned to a specific </a:t>
            </a:r>
            <a:r>
              <a:rPr lang="en-IN" b="1" dirty="0"/>
              <a:t>manhole/location</a:t>
            </a:r>
            <a:r>
              <a:rPr lang="en-IN" dirty="0"/>
              <a:t> for easy identification.</a:t>
            </a:r>
          </a:p>
        </p:txBody>
      </p:sp>
      <p:sp>
        <p:nvSpPr>
          <p:cNvPr id="5" name="Text 3"/>
          <p:cNvSpPr/>
          <p:nvPr/>
        </p:nvSpPr>
        <p:spPr>
          <a:xfrm>
            <a:off x="891657" y="2978348"/>
            <a:ext cx="239855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1657" y="3409553"/>
            <a:ext cx="239855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8302" y="2784773"/>
            <a:ext cx="2785695" cy="1633438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905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3851873" y="2978348"/>
            <a:ext cx="239855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51873" y="2978348"/>
            <a:ext cx="2398553" cy="1246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b="1" dirty="0"/>
              <a:t>Blockage Risk Level</a:t>
            </a:r>
          </a:p>
          <a:p>
            <a:r>
              <a:rPr lang="en-IN" sz="1400" dirty="0"/>
              <a:t>The system classifies the condition as </a:t>
            </a:r>
            <a:r>
              <a:rPr lang="en-IN" sz="1400" b="1" dirty="0"/>
              <a:t>Normal, Warning, or Severe</a:t>
            </a:r>
            <a:r>
              <a:rPr lang="en-IN" sz="1400" dirty="0"/>
              <a:t> based on the Rate of Rise (</a:t>
            </a:r>
            <a:r>
              <a:rPr lang="en-IN" sz="1400" dirty="0" err="1"/>
              <a:t>RoR</a:t>
            </a:r>
            <a:r>
              <a:rPr lang="en-IN" sz="1400" dirty="0"/>
              <a:t>).</a:t>
            </a:r>
          </a:p>
        </p:txBody>
      </p:sp>
      <p:sp>
        <p:nvSpPr>
          <p:cNvPr id="10" name="Shape 8"/>
          <p:cNvSpPr/>
          <p:nvPr/>
        </p:nvSpPr>
        <p:spPr>
          <a:xfrm>
            <a:off x="350088" y="4668738"/>
            <a:ext cx="5745912" cy="1097558"/>
          </a:xfrm>
          <a:prstGeom prst="roundRect">
            <a:avLst>
              <a:gd name="adj" fmla="val 6679"/>
            </a:avLst>
          </a:prstGeom>
          <a:solidFill>
            <a:srgbClr val="FFFFFF">
              <a:alpha val="95000"/>
            </a:srgbClr>
          </a:solidFill>
          <a:ln w="1905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r>
              <a:rPr lang="en-IN" b="1" dirty="0"/>
              <a:t>Timestamp of Detection</a:t>
            </a:r>
          </a:p>
          <a:p>
            <a:r>
              <a:rPr lang="en-IN" dirty="0"/>
              <a:t>The exact </a:t>
            </a:r>
            <a:r>
              <a:rPr lang="en-IN" b="1" dirty="0"/>
              <a:t>date and time</a:t>
            </a:r>
            <a:r>
              <a:rPr lang="en-IN" dirty="0"/>
              <a:t> of the abnormal water rise is recorded and sent with the alert.</a:t>
            </a:r>
          </a:p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891657" y="4786313"/>
            <a:ext cx="535877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kern="0" spc="-32" dirty="0" err="1">
              <a:solidFill>
                <a:srgbClr val="272525"/>
              </a:solidFill>
              <a:latin typeface="Source Serif 4 SemiBold" pitchFamily="34" charset="0"/>
              <a:ea typeface="Source Serif 4 SemiBold" pitchFamily="34" charset="-122"/>
              <a:cs typeface="Source Serif 4 SemiBold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91657" y="5217517"/>
            <a:ext cx="5358770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4291" y="3491706"/>
            <a:ext cx="3653334" cy="3017404"/>
          </a:xfrm>
          <a:prstGeom prst="roundRect">
            <a:avLst>
              <a:gd name="adj" fmla="val 3810"/>
            </a:avLst>
          </a:prstGeom>
          <a:solidFill>
            <a:schemeClr val="accent1">
              <a:lumMod val="40000"/>
              <a:lumOff val="60000"/>
              <a:alpha val="95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85027" y="3801429"/>
            <a:ext cx="4526147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600" b="1" dirty="0"/>
              <a:t>🚨 BLOCKAGE DETECTED</a:t>
            </a:r>
          </a:p>
          <a:p>
            <a:endParaRPr lang="en-IN" sz="1600" b="1" dirty="0"/>
          </a:p>
          <a:p>
            <a:r>
              <a:rPr lang="en-IN" sz="1600" b="1" dirty="0"/>
              <a:t>Location:</a:t>
            </a:r>
            <a:r>
              <a:rPr lang="en-IN" sz="1600" dirty="0"/>
              <a:t> Manhole – MH-07</a:t>
            </a:r>
            <a:br>
              <a:rPr lang="en-IN" sz="1600" dirty="0"/>
            </a:br>
            <a:r>
              <a:rPr lang="en-IN" sz="1600" b="1" dirty="0"/>
              <a:t>Status:</a:t>
            </a:r>
            <a:r>
              <a:rPr lang="en-IN" sz="1600" dirty="0"/>
              <a:t> SEVERE</a:t>
            </a:r>
            <a:br>
              <a:rPr lang="en-IN" sz="1600" dirty="0"/>
            </a:br>
            <a:r>
              <a:rPr lang="en-IN" sz="1600" b="1" dirty="0"/>
              <a:t>Water Level:</a:t>
            </a:r>
            <a:r>
              <a:rPr lang="en-IN" sz="1600" dirty="0"/>
              <a:t> HIGH</a:t>
            </a:r>
            <a:br>
              <a:rPr lang="en-IN" sz="1600" dirty="0"/>
            </a:br>
            <a:r>
              <a:rPr lang="en-IN" sz="1600" b="1" dirty="0" err="1"/>
              <a:t>RoR</a:t>
            </a:r>
            <a:r>
              <a:rPr lang="en-IN" sz="1600" b="1" dirty="0"/>
              <a:t>:</a:t>
            </a:r>
            <a:r>
              <a:rPr lang="en-IN" sz="1600" dirty="0"/>
              <a:t> Above Threshold</a:t>
            </a:r>
            <a:br>
              <a:rPr lang="en-IN" sz="1600" dirty="0"/>
            </a:br>
            <a:r>
              <a:rPr lang="en-IN" sz="1600" b="1" dirty="0"/>
              <a:t>Time:</a:t>
            </a:r>
            <a:r>
              <a:rPr lang="en-IN" sz="1600" dirty="0"/>
              <a:t> 10:42 PM</a:t>
            </a:r>
            <a:br>
              <a:rPr lang="en-IN" sz="1600" dirty="0"/>
            </a:br>
            <a:r>
              <a:rPr lang="en-IN" sz="1600" b="1" dirty="0"/>
              <a:t>Action:</a:t>
            </a:r>
            <a:r>
              <a:rPr lang="en-IN" sz="1600" dirty="0"/>
              <a:t> Immediate Inspection Required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3793" y="4303803"/>
            <a:ext cx="4526147" cy="202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endParaRPr lang="en-US" sz="13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54D4BE-995E-0B90-02D6-84CF8F02737F}"/>
              </a:ext>
            </a:extLst>
          </p:cNvPr>
          <p:cNvSpPr/>
          <p:nvPr/>
        </p:nvSpPr>
        <p:spPr>
          <a:xfrm>
            <a:off x="11079804" y="6529285"/>
            <a:ext cx="1112196" cy="309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71AFF5-2EBB-0FE1-A7D7-7B839461A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3567" y="463823"/>
            <a:ext cx="3996769" cy="29024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BB0D009-8334-8D89-7C5B-DD4D5F06A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" y="1"/>
            <a:ext cx="1209446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050869-10D7-0B88-8512-5B7CE724C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590762-0467-34E8-D29A-98D54F4E1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42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7D38A5-550E-9F30-22D6-8BCEE885C4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1" t="20641"/>
          <a:stretch>
            <a:fillRect/>
          </a:stretch>
        </p:blipFill>
        <p:spPr>
          <a:xfrm>
            <a:off x="0" y="-10599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5A3892-A168-E700-2380-57117AB96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061260" y="1050661"/>
            <a:ext cx="6876030" cy="4753510"/>
          </a:xfrm>
          <a:prstGeom prst="rtTriangl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9E434A-2528-06BC-4303-56969E7B030A}"/>
              </a:ext>
            </a:extLst>
          </p:cNvPr>
          <p:cNvSpPr txBox="1"/>
          <p:nvPr/>
        </p:nvSpPr>
        <p:spPr>
          <a:xfrm>
            <a:off x="1702086" y="834134"/>
            <a:ext cx="947277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ln w="13462">
                  <a:solidFill>
                    <a:schemeClr val="bg1"/>
                  </a:solidFill>
                  <a:prstDash val="solid"/>
                </a:ln>
                <a:blipFill dpi="0"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dist="38100" dir="2700000" algn="bl" rotWithShape="0">
                    <a:schemeClr val="accent5"/>
                  </a:outerShdw>
                </a:effectLst>
                <a:latin typeface="Anton" panose="020F0502020204030204" pitchFamily="2" charset="0"/>
              </a:rPr>
              <a:t>THANK </a:t>
            </a:r>
          </a:p>
          <a:p>
            <a:r>
              <a:rPr lang="en-US" sz="16600" b="1" dirty="0">
                <a:ln w="13462">
                  <a:solidFill>
                    <a:schemeClr val="bg1"/>
                  </a:solidFill>
                  <a:prstDash val="solid"/>
                </a:ln>
                <a:blipFill dpi="0"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dist="38100" dir="2700000" algn="bl" rotWithShape="0">
                    <a:schemeClr val="accent5"/>
                  </a:outerShdw>
                </a:effectLst>
                <a:latin typeface="Anton" panose="020F0502020204030204" pitchFamily="2" charset="0"/>
              </a:rPr>
              <a:t>        YOU</a:t>
            </a:r>
            <a:endParaRPr lang="en-IN" sz="16600" b="1" dirty="0">
              <a:ln w="13462">
                <a:solidFill>
                  <a:schemeClr val="bg1"/>
                </a:solidFill>
                <a:prstDash val="solid"/>
              </a:ln>
              <a:blipFill dpi="0"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dist="38100" dir="2700000" algn="bl" rotWithShape="0">
                  <a:schemeClr val="accent5"/>
                </a:outerShdw>
              </a:effectLst>
              <a:latin typeface="Anton" panose="020F0502020204030204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63A461-C594-90C6-DC1A-A3655F81D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377230" y="1058092"/>
            <a:ext cx="6876030" cy="4753510"/>
          </a:xfrm>
          <a:prstGeom prst="rtTriangle">
            <a:avLst/>
          </a:prstGeom>
        </p:spPr>
      </p:pic>
    </p:spTree>
    <p:extLst>
      <p:ext uri="{BB962C8B-B14F-4D97-AF65-F5344CB8AC3E}">
        <p14:creationId xmlns:p14="http://schemas.microsoft.com/office/powerpoint/2010/main" val="3986197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541</Words>
  <Application>Microsoft Office PowerPoint</Application>
  <PresentationFormat>Widescreen</PresentationFormat>
  <Paragraphs>65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Source Sans 3</vt:lpstr>
      <vt:lpstr>Source Serif 4 SemiBold</vt:lpstr>
      <vt:lpstr>Arial</vt:lpstr>
      <vt:lpstr>Anton</vt:lpstr>
      <vt:lpstr>Bell MT</vt:lpstr>
      <vt:lpstr>Calibri Light</vt:lpstr>
      <vt:lpstr>Calibri body</vt:lpstr>
      <vt:lpstr>Algerian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 Max</dc:creator>
  <cp:lastModifiedBy>Raj rock</cp:lastModifiedBy>
  <cp:revision>6</cp:revision>
  <dcterms:created xsi:type="dcterms:W3CDTF">2026-08-28T13:11:40Z</dcterms:created>
  <dcterms:modified xsi:type="dcterms:W3CDTF">2026-09-27T15:13:20Z</dcterms:modified>
</cp:coreProperties>
</file>